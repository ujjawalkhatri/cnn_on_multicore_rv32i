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4-Stage 2C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Basicmath</c:v>
                </c:pt>
                <c:pt idx="1">
                  <c:v>FFT</c:v>
                </c:pt>
                <c:pt idx="2">
                  <c:v>IFFT</c:v>
                </c:pt>
                <c:pt idx="3">
                  <c:v>Matmul</c:v>
                </c:pt>
                <c:pt idx="4">
                  <c:v>Qsort</c:v>
                </c:pt>
                <c:pt idx="5">
                  <c:v>Stringsearch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116</c:v>
                </c:pt>
                <c:pt idx="1">
                  <c:v>135.1</c:v>
                </c:pt>
                <c:pt idx="2">
                  <c:v>134.30000000000001</c:v>
                </c:pt>
                <c:pt idx="3">
                  <c:v>136</c:v>
                </c:pt>
                <c:pt idx="4">
                  <c:v>93</c:v>
                </c:pt>
                <c:pt idx="5">
                  <c:v>98.5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71-44EB-9446-276ADCD800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4-Stage 4C</c:v>
                </c:pt>
              </c:strCache>
            </c:strRef>
          </c:tx>
          <c:spPr>
            <a:solidFill>
              <a:srgbClr val="C084F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Basicmath</c:v>
                </c:pt>
                <c:pt idx="1">
                  <c:v>FFT</c:v>
                </c:pt>
                <c:pt idx="2">
                  <c:v>IFFT</c:v>
                </c:pt>
                <c:pt idx="3">
                  <c:v>Matmul</c:v>
                </c:pt>
                <c:pt idx="4">
                  <c:v>Qsort</c:v>
                </c:pt>
                <c:pt idx="5">
                  <c:v>Stringsearch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233</c:v>
                </c:pt>
                <c:pt idx="1">
                  <c:v>263.89999999999998</c:v>
                </c:pt>
                <c:pt idx="2">
                  <c:v>264.10000000000002</c:v>
                </c:pt>
                <c:pt idx="3">
                  <c:v>259.60000000000002</c:v>
                </c:pt>
                <c:pt idx="4">
                  <c:v>159.4</c:v>
                </c:pt>
                <c:pt idx="5">
                  <c:v>257.60000000000002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71-44EB-9446-276ADCD800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4-Stage 8C</c:v>
                </c:pt>
              </c:strCache>
            </c:strRef>
          </c:tx>
          <c:spPr>
            <a:solidFill>
              <a:srgbClr val="E879F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Basicmath</c:v>
                </c:pt>
                <c:pt idx="1">
                  <c:v>FFT</c:v>
                </c:pt>
                <c:pt idx="2">
                  <c:v>IFFT</c:v>
                </c:pt>
                <c:pt idx="3">
                  <c:v>Matmul</c:v>
                </c:pt>
                <c:pt idx="4">
                  <c:v>Qsort</c:v>
                </c:pt>
                <c:pt idx="5">
                  <c:v>Stringsearch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420.7</c:v>
                </c:pt>
                <c:pt idx="1">
                  <c:v>496.8</c:v>
                </c:pt>
                <c:pt idx="2">
                  <c:v>497.3</c:v>
                </c:pt>
                <c:pt idx="3">
                  <c:v>488.3</c:v>
                </c:pt>
                <c:pt idx="4">
                  <c:v>214</c:v>
                </c:pt>
                <c:pt idx="5">
                  <c:v>356.9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71-44EB-9446-276ADCD8009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6-Stage 2C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Basicmath</c:v>
                </c:pt>
                <c:pt idx="1">
                  <c:v>FFT</c:v>
                </c:pt>
                <c:pt idx="2">
                  <c:v>IFFT</c:v>
                </c:pt>
                <c:pt idx="3">
                  <c:v>Matmul</c:v>
                </c:pt>
                <c:pt idx="4">
                  <c:v>Qsort</c:v>
                </c:pt>
                <c:pt idx="5">
                  <c:v>Stringsearch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49</c:v>
                </c:pt>
                <c:pt idx="1">
                  <c:v>60.8</c:v>
                </c:pt>
                <c:pt idx="2">
                  <c:v>63</c:v>
                </c:pt>
                <c:pt idx="3">
                  <c:v>60.8</c:v>
                </c:pt>
                <c:pt idx="4">
                  <c:v>33.5</c:v>
                </c:pt>
                <c:pt idx="5">
                  <c:v>75.2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871-44EB-9446-276ADCD8009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6-Stage 4C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Basicmath</c:v>
                </c:pt>
                <c:pt idx="1">
                  <c:v>FFT</c:v>
                </c:pt>
                <c:pt idx="2">
                  <c:v>IFFT</c:v>
                </c:pt>
                <c:pt idx="3">
                  <c:v>Matmul</c:v>
                </c:pt>
                <c:pt idx="4">
                  <c:v>Qsort</c:v>
                </c:pt>
                <c:pt idx="5">
                  <c:v>Stringsearch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86.8</c:v>
                </c:pt>
                <c:pt idx="1">
                  <c:v>116.5</c:v>
                </c:pt>
                <c:pt idx="2">
                  <c:v>118</c:v>
                </c:pt>
                <c:pt idx="3">
                  <c:v>106.2</c:v>
                </c:pt>
                <c:pt idx="4">
                  <c:v>59.8</c:v>
                </c:pt>
                <c:pt idx="5">
                  <c:v>169.4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71-44EB-9446-276ADCD8009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6-Stage 8C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Basicmath</c:v>
                </c:pt>
                <c:pt idx="1">
                  <c:v>FFT</c:v>
                </c:pt>
                <c:pt idx="2">
                  <c:v>IFFT</c:v>
                </c:pt>
                <c:pt idx="3">
                  <c:v>Matmul</c:v>
                </c:pt>
                <c:pt idx="4">
                  <c:v>Qsort</c:v>
                </c:pt>
                <c:pt idx="5">
                  <c:v>Stringsearch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127.2</c:v>
                </c:pt>
                <c:pt idx="1">
                  <c:v>214.7</c:v>
                </c:pt>
                <c:pt idx="2">
                  <c:v>219.3</c:v>
                </c:pt>
                <c:pt idx="3">
                  <c:v>181.3</c:v>
                </c:pt>
                <c:pt idx="4">
                  <c:v>105.5</c:v>
                </c:pt>
                <c:pt idx="5">
                  <c:v>319.7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871-44EB-9446-276ADCD800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254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lang="en-IN" sz="1200" b="0" i="0" u="none" strike="noStrike">
                    <a:solidFill>
                      <a:srgbClr val="94A3B8"/>
                    </a:solidFill>
                    <a:latin typeface="Arial"/>
                  </a:rPr>
                  <a:t>Total MIPS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31D3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31D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4-Stage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2-core</c:v>
                </c:pt>
                <c:pt idx="1">
                  <c:v>4-core</c:v>
                </c:pt>
                <c:pt idx="2">
                  <c:v>8-core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1.02</c:v>
                </c:pt>
                <c:pt idx="2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93-40BC-84C5-5C7B216C6A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6-Stage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2-core</c:v>
                </c:pt>
                <c:pt idx="1">
                  <c:v>4-core</c:v>
                </c:pt>
                <c:pt idx="2">
                  <c:v>8-core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0.56000000000000005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93-40BC-84C5-5C7B216C6A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6350" cap="flat">
              <a:solidFill>
                <a:srgbClr val="2D254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lang="en-IN" sz="1200" b="0" i="0" u="none" strike="noStrike">
                    <a:solidFill>
                      <a:srgbClr val="94A3B8"/>
                    </a:solidFill>
                    <a:latin typeface="Arial"/>
                  </a:rPr>
                  <a:t>Avg. Efficiency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31D3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31D33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94A3B8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94A3B8"/>
                </a:solidFill>
                <a:latin typeface="Arial"/>
              </a:rPr>
              <a:t>LUT Usage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4-Stage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2-core</c:v>
                </c:pt>
                <c:pt idx="1">
                  <c:v>4-core</c:v>
                </c:pt>
                <c:pt idx="2">
                  <c:v>8-core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5921</c:v>
                </c:pt>
                <c:pt idx="1">
                  <c:v>11048</c:v>
                </c:pt>
                <c:pt idx="2">
                  <c:v>28591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9C-45D5-A7F5-FFACBDED59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6-Stage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2-core</c:v>
                </c:pt>
                <c:pt idx="1">
                  <c:v>4-core</c:v>
                </c:pt>
                <c:pt idx="2">
                  <c:v>8-core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11304</c:v>
                </c:pt>
                <c:pt idx="1">
                  <c:v>22155</c:v>
                </c:pt>
                <c:pt idx="2">
                  <c:v>43731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9C-45D5-A7F5-FFACBDED59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2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31D3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31D33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94A3B8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94A3B8"/>
                </a:solidFill>
                <a:latin typeface="Arial"/>
              </a:rPr>
              <a:t>Total Power (W)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4-Stage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2-core</c:v>
                </c:pt>
                <c:pt idx="1">
                  <c:v>4-core</c:v>
                </c:pt>
                <c:pt idx="2">
                  <c:v>8-core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1.446</c:v>
                </c:pt>
                <c:pt idx="1">
                  <c:v>1.4750000000000001</c:v>
                </c:pt>
                <c:pt idx="2">
                  <c:v>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DF-42A8-9BB6-1B3E14D98B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6-Stage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2-core</c:v>
                </c:pt>
                <c:pt idx="1">
                  <c:v>4-core</c:v>
                </c:pt>
                <c:pt idx="2">
                  <c:v>8-core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1.5589999999999999</c:v>
                </c:pt>
                <c:pt idx="1">
                  <c:v>1.605</c:v>
                </c:pt>
                <c:pt idx="2">
                  <c:v>1.69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DF-42A8-9BB6-1B3E14D98B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1.3"/>
        </c:scaling>
        <c:delete val="0"/>
        <c:axPos val="l"/>
        <c:majorGridlines>
          <c:spPr>
            <a:ln w="6350" cap="flat">
              <a:solidFill>
                <a:srgbClr val="2D2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31D3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31D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02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926080" cy="2926080"/>
          </a:xfrm>
          <a:prstGeom prst="ellipse">
            <a:avLst/>
          </a:prstGeom>
          <a:solidFill>
            <a:srgbClr val="A855F7">
              <a:alpha val="16000"/>
            </a:srgbClr>
          </a:solidFill>
          <a:ln w="12700">
            <a:solidFill>
              <a:srgbClr val="A855F7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2926080"/>
            <a:ext cx="3474720" cy="347472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114800" y="-1097280"/>
            <a:ext cx="2286000" cy="22860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3474720" cy="310896"/>
          </a:xfrm>
          <a:prstGeom prst="roundRect">
            <a:avLst>
              <a:gd name="adj" fmla="val 29412"/>
            </a:avLst>
          </a:prstGeom>
          <a:solidFill>
            <a:srgbClr val="A855F7">
              <a:alpha val="45000"/>
            </a:srgbClr>
          </a:solidFill>
          <a:ln w="12700">
            <a:solidFill>
              <a:srgbClr val="A855F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2011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LNMIIT  ·  ECE  ·  B.Tech Project  ·  2025–26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869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76523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From Pipeline Optimization to Deep Learning Acceleration</a:t>
            </a:r>
          </a:p>
        </p:txBody>
      </p:sp>
      <p:sp>
        <p:nvSpPr>
          <p:cNvPr id="9" name="Text 6"/>
          <p:cNvSpPr/>
          <p:nvPr/>
        </p:nvSpPr>
        <p:spPr>
          <a:xfrm>
            <a:off x="914400" y="13710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84FC"/>
                </a:solidFill>
              </a:rPr>
              <a:t>A Multicore RISC-V FPGA Study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411480" y="2304288"/>
            <a:ext cx="41148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11480" y="2450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Molik Rajvanshi  (23UEC575)   ·   Ujjawal Khatri  (23UEC635)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1148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Under Guidance of  Dr. Abhishek Sharma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31272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Department of Electronics and Communication Engineering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1480" y="34015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The LNM Institute of Information Technology, Jaipur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4041648"/>
            <a:ext cx="1993392" cy="82296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11480" y="408736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84FC"/>
                </a:solidFill>
              </a:rPr>
              <a:t>PYNQ-Z2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11480" y="446227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FPGA Platform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587752" y="4041648"/>
            <a:ext cx="1993392" cy="82296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587752" y="408736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84FC"/>
                </a:solidFill>
              </a:rPr>
              <a:t>RV32I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587752" y="446227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ISA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764024" y="4041648"/>
            <a:ext cx="1993392" cy="82296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764024" y="408736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84FC"/>
                </a:solidFill>
              </a:rPr>
              <a:t>MiBench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764024" y="446227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Benchmark Suite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940296" y="4041648"/>
            <a:ext cx="1993392" cy="82296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940296" y="408736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84FC"/>
                </a:solidFill>
              </a:rPr>
              <a:t>5.98×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940296" y="446227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Max Speedup (8-core)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855F7"/>
                </a:solidFill>
              </a:rPr>
              <a:t>Contents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What we'll cover in this presentation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4251960" cy="114300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2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55F7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52144" y="11430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Introduction &amp; Research Gap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2144" y="15636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RISC-V ecosystem, motivation, novel contributions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2377440"/>
            <a:ext cx="4251960" cy="114300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2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55F7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52144" y="24688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System Architecture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2144" y="288950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Zynq-7020 multicore design, memory, interconnect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3703320"/>
            <a:ext cx="4251960" cy="114300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2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55F7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52144" y="37947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Benchmarking Framework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2144" y="421538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MiBench suite, bare-metal flow, performance metrics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73168" y="1051560"/>
            <a:ext cx="4251960" cy="114300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2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82896" y="114300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55F7"/>
                </a:solidFill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77840" y="11430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Performance Results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15636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Total MIPS, scaling efficiency, resource utilization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73168" y="2377440"/>
            <a:ext cx="4251960" cy="114300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2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82896" y="246888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55F7"/>
                </a:solidFill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577840" y="24688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CNN Inference Application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288950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FruitCNNSmall, int8 quantization, FPGA results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73168" y="3703320"/>
            <a:ext cx="4251960" cy="114300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2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82896" y="379476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55F7"/>
                </a:solidFill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577840" y="37947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Conclusions &amp; Future Work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77840" y="421538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Key findings, extensions, architectural roadmap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-914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A855F7">
                    <a:alpha val="25000"/>
                  </a:srgbClr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Introduction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55F7"/>
                </a:solidFill>
              </a:rPr>
              <a:t>Background &amp; Motivation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64008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Lightweight RISC-V soft-cores (PicoRV32, SERV, NEORV32, Ibex, Sodor) have gained substantial research interest in FPGA-based environments due to their open ISA and modular nature.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2029968"/>
            <a:ext cx="64008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19659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Most existing research focuses on single-core implementations. Multicore variants exist, but evaluation methodologies differ significantly across studies.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990088"/>
            <a:ext cx="64008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66928" y="29260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Popular high-performance platforms (e.g., Rocket Chip) target Linux-capable systems  leaving a gap for lightweight bare-metal multicore evaluation.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3950208"/>
            <a:ext cx="64008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38862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Inconsistent build configs, memory models, and runtime environments make fair cross-study comparison extremely difficult.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914400"/>
            <a:ext cx="2926080" cy="397764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0" y="914400"/>
            <a:ext cx="292608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0" y="9144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Research Gap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53328" y="1417320"/>
            <a:ext cx="27249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→ </a:t>
            </a:r>
            <a:r>
              <a:rPr lang="en-US" sz="1100" dirty="0">
                <a:solidFill>
                  <a:srgbClr val="FFFFFF"/>
                </a:solidFill>
              </a:rPr>
              <a:t>No unified bare-metal benchmarking framework for lightweight RV32I multicores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53328" y="2240280"/>
            <a:ext cx="27249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→ </a:t>
            </a:r>
            <a:r>
              <a:rPr lang="en-US" sz="1100" dirty="0">
                <a:solidFill>
                  <a:srgbClr val="FFFFFF"/>
                </a:solidFill>
              </a:rPr>
              <a:t>No hardware-validated fair comparison of pipelined vs multicycle RV32I multicores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53328" y="3063240"/>
            <a:ext cx="27249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→ </a:t>
            </a:r>
            <a:r>
              <a:rPr lang="en-US" sz="1100" dirty="0">
                <a:solidFill>
                  <a:srgbClr val="FFFFFF"/>
                </a:solidFill>
              </a:rPr>
              <a:t>Inconsistent memory models &amp; runtime environments across published studies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53328" y="3886200"/>
            <a:ext cx="27249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→ </a:t>
            </a:r>
            <a:r>
              <a:rPr lang="en-US" sz="1100" b="1" dirty="0">
                <a:solidFill>
                  <a:srgbClr val="FFFFFF"/>
                </a:solidFill>
              </a:rPr>
              <a:t>Lack of</a:t>
            </a:r>
            <a:r>
              <a:rPr lang="en-US" sz="1100" dirty="0">
                <a:solidFill>
                  <a:srgbClr val="FFFFFF"/>
                </a:solidFill>
              </a:rPr>
              <a:t> real-world AI workload validation on lightweight FPGA multicore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3716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Novel Contributions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92608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55F7"/>
                </a:solidFill>
              </a:rPr>
              <a:t>Seven key research contributions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68580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92608" y="987552"/>
            <a:ext cx="2084832" cy="1444752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3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92608" y="987552"/>
            <a:ext cx="2084832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84048" y="108813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</a:rPr>
              <a:t>Multicore Scaling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4048" y="1481328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4-stage RV32I core extended to 2, 4, and 8 cores on PYNQ-Z2 (Zynq-7020)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87168" y="987552"/>
            <a:ext cx="2084832" cy="1444752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3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487168" y="987552"/>
            <a:ext cx="2084832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578608" y="108813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</a:rPr>
              <a:t>Fair Arch. Comparison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578608" y="1481328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4-stage pipelined vs 6-stage multicycle under identical runtime conditions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81728" y="987552"/>
            <a:ext cx="2084832" cy="1444752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3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681728" y="987552"/>
            <a:ext cx="2084832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773168" y="108813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</a:rPr>
              <a:t>Unified Framework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73168" y="1481328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Bare-metal, mailbox-sync, BRAM-partitioned reproducible benchmark env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76288" y="987552"/>
            <a:ext cx="2084832" cy="1444752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3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876288" y="987552"/>
            <a:ext cx="2084832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967728" y="108813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</a:rPr>
              <a:t>MiBench Evaluation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967728" y="1481328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Basicmath, Bitcount, Qsort, Stringsearch, FFT, IFFT, Matmul kernels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92608" y="2633472"/>
            <a:ext cx="2834640" cy="1444752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3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292608" y="2633472"/>
            <a:ext cx="28346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84048" y="27340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</a:rPr>
              <a:t>Quantitative Analysis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84048" y="312724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Parallel IPC, MIPS, Speedup, Efficiency via hardware performance counters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82696" y="2633472"/>
            <a:ext cx="2834640" cy="1444752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3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3282696" y="2633472"/>
            <a:ext cx="28346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3374136" y="27340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</a:rPr>
              <a:t>Resource Utilization Study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374136" y="312724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LUT, FF, BRAM, Power for all configs (2/4/8 cores × 2 families)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272784" y="2633472"/>
            <a:ext cx="2834640" cy="1444752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3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6272784" y="2633472"/>
            <a:ext cx="28346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6364224" y="27340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</a:rPr>
              <a:t>CNN Inference App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364224" y="312724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Int8 FruitCNNSmall on 4-core system —&gt; good accuracy, validates embedded AI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-914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A855F7">
                    <a:alpha val="25000"/>
                  </a:srgbClr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6035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55F7"/>
                </a:solidFill>
              </a:rPr>
              <a:t>Zynq-7020 Multicore RV32I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920240" cy="3703320"/>
          </a:xfrm>
          <a:prstGeom prst="rect">
            <a:avLst/>
          </a:prstGeom>
          <a:solidFill>
            <a:srgbClr val="2A1D50">
              <a:alpha val="7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1920240" cy="365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Zynq PS (Host)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ARM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Cortex-A9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" y="21488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</a:rPr>
              <a:t>▸ </a:t>
            </a:r>
            <a:r>
              <a:rPr lang="en-US" sz="1100" dirty="0">
                <a:solidFill>
                  <a:srgbClr val="94A3B8"/>
                </a:solidFill>
              </a:rPr>
              <a:t>Loads firmware to IMEM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58775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</a:rPr>
              <a:t>▸ </a:t>
            </a:r>
            <a:r>
              <a:rPr lang="en-US" sz="1100" dirty="0">
                <a:solidFill>
                  <a:srgbClr val="94A3B8"/>
                </a:solidFill>
              </a:rPr>
              <a:t>Sends job descriptors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302666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</a:rPr>
              <a:t>▸ </a:t>
            </a:r>
            <a:r>
              <a:rPr lang="en-US" sz="1100" dirty="0">
                <a:solidFill>
                  <a:srgbClr val="94A3B8"/>
                </a:solidFill>
              </a:rPr>
              <a:t>Gathers metrics via mailbox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3465576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</a:rPr>
              <a:t>▸ </a:t>
            </a:r>
            <a:r>
              <a:rPr lang="en-US" sz="1100" dirty="0">
                <a:solidFill>
                  <a:srgbClr val="94A3B8"/>
                </a:solidFill>
              </a:rPr>
              <a:t>Runs pooling/FC layers (CNN)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95728" y="2468880"/>
            <a:ext cx="1325880" cy="685800"/>
          </a:xfrm>
          <a:prstGeom prst="rect">
            <a:avLst/>
          </a:prstGeom>
          <a:solidFill>
            <a:srgbClr val="231D33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95728" y="246888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</a:rPr>
              <a:t>AXI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</a:rPr>
              <a:t>Interconnect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2816352"/>
            <a:ext cx="201168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721608" y="1399032"/>
            <a:ext cx="34747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069080" y="1051560"/>
            <a:ext cx="1920240" cy="804672"/>
          </a:xfrm>
          <a:prstGeom prst="rect">
            <a:avLst/>
          </a:prstGeom>
          <a:solidFill>
            <a:srgbClr val="1C1728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069080" y="10881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RV32I Core 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69080" y="14721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RV32I Pipeline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1399032"/>
            <a:ext cx="274320" cy="0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63640" y="1051560"/>
            <a:ext cx="2651760" cy="804672"/>
          </a:xfrm>
          <a:prstGeom prst="rect">
            <a:avLst/>
          </a:prstGeom>
          <a:solidFill>
            <a:srgbClr val="231D33"/>
          </a:solidFill>
          <a:ln w="12700">
            <a:solidFill>
              <a:srgbClr val="FCD34D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63640" y="10881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34D"/>
                </a:solidFill>
              </a:rPr>
              <a:t>Private BRAM Window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145389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Mailbox  ·  Stack  · 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21608" y="2615184"/>
            <a:ext cx="34747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069080" y="2267712"/>
            <a:ext cx="1920240" cy="804672"/>
          </a:xfrm>
          <a:prstGeom prst="rect">
            <a:avLst/>
          </a:prstGeom>
          <a:solidFill>
            <a:srgbClr val="1C1728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069080" y="23042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RV32I Core 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69080" y="26883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RV32I Pipeline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89320" y="2615184"/>
            <a:ext cx="274320" cy="0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263640" y="2267712"/>
            <a:ext cx="2651760" cy="804672"/>
          </a:xfrm>
          <a:prstGeom prst="rect">
            <a:avLst/>
          </a:prstGeom>
          <a:solidFill>
            <a:srgbClr val="231D33"/>
          </a:solidFill>
          <a:ln w="12700">
            <a:solidFill>
              <a:srgbClr val="FCD34D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63640" y="23042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34D"/>
                </a:solidFill>
              </a:rPr>
              <a:t>Private BRAM Window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26700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Mailbox  ·  Stack  ·  Data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21608" y="3831336"/>
            <a:ext cx="34747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069080" y="3483864"/>
            <a:ext cx="1920240" cy="804672"/>
          </a:xfrm>
          <a:prstGeom prst="rect">
            <a:avLst/>
          </a:prstGeom>
          <a:solidFill>
            <a:srgbClr val="1C1728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069080" y="3520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RV32I Core 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069080" y="39044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RV32I Pipeline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89320" y="3831336"/>
            <a:ext cx="274320" cy="0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263640" y="3483864"/>
            <a:ext cx="2651760" cy="804672"/>
          </a:xfrm>
          <a:prstGeom prst="rect">
            <a:avLst/>
          </a:prstGeom>
          <a:solidFill>
            <a:srgbClr val="231D33"/>
          </a:solidFill>
          <a:ln w="12700">
            <a:solidFill>
              <a:srgbClr val="FCD34D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26364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34D"/>
                </a:solidFill>
              </a:rPr>
              <a:t>Private BRAM Window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63640" y="38862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128 / 64 / 32 KiB per core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069080" y="3840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1D1632">
              <a:alpha val="80000"/>
            </a:srgbClr>
          </a:solidFill>
          <a:ln w="12700">
            <a:solidFill>
              <a:srgbClr val="A855F7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84FC"/>
                </a:solidFill>
              </a:rPr>
              <a:t>Memory Allocation  →  N=2: 128 KiB/core  ·  N=4: 64 KiB/core  ·  N=8: 32 KiB/core  |  Mailbox at 0x2000, Data at 0x2100</a:t>
            </a:r>
            <a:endParaRPr lang="en-US" sz="12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FBD4F7F1-5796-66A8-41F7-04B82B544301}"/>
              </a:ext>
            </a:extLst>
          </p:cNvPr>
          <p:cNvSpPr/>
          <p:nvPr/>
        </p:nvSpPr>
        <p:spPr>
          <a:xfrm>
            <a:off x="3721608" y="1389889"/>
            <a:ext cx="143256" cy="1225295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84BA91E3-1EC3-C2A8-4F02-7FFCB6CCDA58}"/>
              </a:ext>
            </a:extLst>
          </p:cNvPr>
          <p:cNvSpPr/>
          <p:nvPr/>
        </p:nvSpPr>
        <p:spPr>
          <a:xfrm flipH="1">
            <a:off x="3721608" y="2586228"/>
            <a:ext cx="143256" cy="1235962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pPr algn="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Pipeline Architecture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55F7"/>
                </a:solidFill>
              </a:rPr>
              <a:t>4-Stage Pipelined  vs  6-Stage Multicycle RV32I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97764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4-Stage Pipelined Core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" y="1508760"/>
            <a:ext cx="3730752" cy="402336"/>
          </a:xfrm>
          <a:prstGeom prst="roundRect">
            <a:avLst>
              <a:gd name="adj" fmla="val 11364"/>
            </a:avLst>
          </a:prstGeom>
          <a:solidFill>
            <a:srgbClr val="3B1D8A"/>
          </a:solidFill>
          <a:ln w="12700">
            <a:solidFill>
              <a:srgbClr val="A855F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1508760"/>
            <a:ext cx="3730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1. Instruction Fetch (IF)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2020824"/>
            <a:ext cx="3730752" cy="402336"/>
          </a:xfrm>
          <a:prstGeom prst="roundRect">
            <a:avLst>
              <a:gd name="adj" fmla="val 11364"/>
            </a:avLst>
          </a:prstGeom>
          <a:solidFill>
            <a:srgbClr val="3B1D8A"/>
          </a:solidFill>
          <a:ln w="12700">
            <a:solidFill>
              <a:srgbClr val="A855F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" y="2020824"/>
            <a:ext cx="3730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2. Decode + Register Read (ID)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" y="2532888"/>
            <a:ext cx="3730752" cy="402336"/>
          </a:xfrm>
          <a:prstGeom prst="roundRect">
            <a:avLst>
              <a:gd name="adj" fmla="val 11364"/>
            </a:avLst>
          </a:prstGeom>
          <a:solidFill>
            <a:srgbClr val="3B1D8A"/>
          </a:solidFill>
          <a:ln w="12700">
            <a:solidFill>
              <a:srgbClr val="A855F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" y="2532888"/>
            <a:ext cx="3730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3. Execute + Memory (EX/MEM)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3044952"/>
            <a:ext cx="3730752" cy="402336"/>
          </a:xfrm>
          <a:prstGeom prst="roundRect">
            <a:avLst>
              <a:gd name="adj" fmla="val 11364"/>
            </a:avLst>
          </a:prstGeom>
          <a:solidFill>
            <a:srgbClr val="3B1D8A"/>
          </a:solidFill>
          <a:ln w="12700">
            <a:solidFill>
              <a:srgbClr val="A855F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" y="3044952"/>
            <a:ext cx="3730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4. Writeback (WB)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Fmax: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361188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</a:rPr>
              <a:t>80.77 – 82.19 MHz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Parallel IPC: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388620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</a:rPr>
              <a:t>Up to 6.16 (8-core FFT)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Max MIPS: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48840" y="416052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</a:rPr>
              <a:t>497.3 MIPS (IFFT, 8-core)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Best Kernel: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443484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</a:rPr>
              <a:t>Matmul (13.59× speedup @8C)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960120"/>
            <a:ext cx="4114800" cy="3977640"/>
          </a:xfrm>
          <a:prstGeom prst="rect">
            <a:avLst/>
          </a:prstGeom>
          <a:solidFill>
            <a:srgbClr val="231D33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11480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9601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6-Stage Multicycle Core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56048" y="1508760"/>
            <a:ext cx="3730752" cy="310896"/>
          </a:xfrm>
          <a:prstGeom prst="roundRect">
            <a:avLst>
              <a:gd name="adj" fmla="val 14706"/>
            </a:avLst>
          </a:prstGeom>
          <a:solidFill>
            <a:srgbClr val="1C1728"/>
          </a:solidFill>
          <a:ln w="12700">
            <a:solidFill>
              <a:srgbClr val="64748B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56048" y="1508760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1. Fetch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56048" y="1874520"/>
            <a:ext cx="3730752" cy="310896"/>
          </a:xfrm>
          <a:prstGeom prst="roundRect">
            <a:avLst>
              <a:gd name="adj" fmla="val 14706"/>
            </a:avLst>
          </a:prstGeom>
          <a:solidFill>
            <a:srgbClr val="1C1728"/>
          </a:solidFill>
          <a:ln w="12700">
            <a:solidFill>
              <a:srgbClr val="64748B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56048" y="1874520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2. Decode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56048" y="2240280"/>
            <a:ext cx="3730752" cy="310896"/>
          </a:xfrm>
          <a:prstGeom prst="roundRect">
            <a:avLst>
              <a:gd name="adj" fmla="val 14706"/>
            </a:avLst>
          </a:prstGeom>
          <a:solidFill>
            <a:srgbClr val="1C1728"/>
          </a:solidFill>
          <a:ln w="12700">
            <a:solidFill>
              <a:srgbClr val="64748B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56048" y="2240280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3. Execute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56048" y="2606040"/>
            <a:ext cx="3730752" cy="310896"/>
          </a:xfrm>
          <a:prstGeom prst="roundRect">
            <a:avLst>
              <a:gd name="adj" fmla="val 14706"/>
            </a:avLst>
          </a:prstGeom>
          <a:solidFill>
            <a:srgbClr val="1C1728"/>
          </a:solidFill>
          <a:ln w="12700">
            <a:solidFill>
              <a:srgbClr val="64748B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56048" y="2606040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4. Memory Access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56048" y="2971800"/>
            <a:ext cx="3730752" cy="310896"/>
          </a:xfrm>
          <a:prstGeom prst="roundRect">
            <a:avLst>
              <a:gd name="adj" fmla="val 14706"/>
            </a:avLst>
          </a:prstGeom>
          <a:solidFill>
            <a:srgbClr val="1C1728"/>
          </a:solidFill>
          <a:ln w="12700">
            <a:solidFill>
              <a:srgbClr val="64748B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56048" y="2971800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5. Memory Wait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56048" y="3337560"/>
            <a:ext cx="3730752" cy="310896"/>
          </a:xfrm>
          <a:prstGeom prst="roundRect">
            <a:avLst>
              <a:gd name="adj" fmla="val 14706"/>
            </a:avLst>
          </a:prstGeom>
          <a:solidFill>
            <a:srgbClr val="1C1728"/>
          </a:solidFill>
          <a:ln w="12700">
            <a:solidFill>
              <a:srgbClr val="64748B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56048" y="3337560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6. Writeback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19472" y="361188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Fmax: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65392" y="3611880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72.69 – 80.40 MHz (degrades)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19472" y="388620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Parallel IPC: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65392" y="3886200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Lower — multicycle stalls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19472" y="416052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Max MIPS: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65392" y="4160520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319.7 MIPS (Stringsearch)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19472" y="443484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Bottleneck: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65392" y="4434840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AXI saturation at high 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-914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A855F7">
                    <a:alpha val="25000"/>
                  </a:srgbClr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74320" y="15544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Benchmarking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612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55F7"/>
                </a:solidFill>
              </a:rPr>
              <a:t>Unified bare-metal evaluation environment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069080" cy="214884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069080" cy="365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Software &amp; Build 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" y="1444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855F7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OS / no libc — bare-metal crt0_minimal.S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8379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855F7"/>
                </a:solidFill>
              </a:rPr>
              <a:t>▸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riscv64-unknown-elf-gcc -march=rv32i -mabi=ilp32-O2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2311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855F7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Compile: ELF → BIN → HEX → BRAM load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6243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855F7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AMD Vivado 2022.1 + Vitis 2022.1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87552"/>
            <a:ext cx="4297680" cy="214884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0" y="987552"/>
            <a:ext cx="4297680" cy="365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0" y="9875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MiBench Kernels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144475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● </a:t>
            </a:r>
            <a:r>
              <a:rPr lang="en-US" sz="1400" dirty="0">
                <a:solidFill>
                  <a:srgbClr val="FFFFFF"/>
                </a:solidFill>
              </a:rPr>
              <a:t>Basicmath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183794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● </a:t>
            </a:r>
            <a:r>
              <a:rPr lang="en-US" sz="1400" dirty="0">
                <a:solidFill>
                  <a:srgbClr val="FFFFFF"/>
                </a:solidFill>
              </a:rPr>
              <a:t>Bitcount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23113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● </a:t>
            </a:r>
            <a:r>
              <a:rPr lang="en-US" sz="1400" dirty="0">
                <a:solidFill>
                  <a:srgbClr val="FFFFFF"/>
                </a:solidFill>
              </a:rPr>
              <a:t>Qsort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6243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● </a:t>
            </a:r>
            <a:r>
              <a:rPr lang="en-US" sz="1400" dirty="0">
                <a:solidFill>
                  <a:srgbClr val="FFFFFF"/>
                </a:solidFill>
              </a:rPr>
              <a:t>Stringsearch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144475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● </a:t>
            </a:r>
            <a:r>
              <a:rPr lang="en-US" sz="1400" dirty="0">
                <a:solidFill>
                  <a:srgbClr val="FFFFFF"/>
                </a:solidFill>
              </a:rPr>
              <a:t>FFT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183794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● </a:t>
            </a:r>
            <a:r>
              <a:rPr lang="en-US" sz="1400" dirty="0">
                <a:solidFill>
                  <a:srgbClr val="FFFFFF"/>
                </a:solidFill>
              </a:rPr>
              <a:t>IFFT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223113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● </a:t>
            </a:r>
            <a:r>
              <a:rPr lang="en-US" sz="1400" dirty="0">
                <a:solidFill>
                  <a:srgbClr val="FFFFFF"/>
                </a:solidFill>
              </a:rPr>
              <a:t>Matmul (custom)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2128" y="3291840"/>
            <a:ext cx="8595360" cy="1600200"/>
          </a:xfrm>
          <a:prstGeom prst="rect">
            <a:avLst/>
          </a:prstGeom>
          <a:solidFill>
            <a:srgbClr val="1C1728"/>
          </a:solidFill>
          <a:ln w="12700">
            <a:solidFill>
              <a:srgbClr val="A855F7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411480" y="33558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</a:rPr>
              <a:t>Performance Metrics Used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" y="37673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</a:rPr>
              <a:t>WALL: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3776472"/>
            <a:ext cx="20802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Max cycle count across all cores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60420" y="37673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</a:rPr>
              <a:t>Parallel IPC: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94809" y="3767328"/>
            <a:ext cx="174186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Total instructions ÷ WALL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37673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</a:rPr>
              <a:t>Total MIPS: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93814" y="3775364"/>
            <a:ext cx="16802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Parallel IPC × Fclk (MHz)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42245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</a:rPr>
              <a:t>Speedup: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4216631"/>
            <a:ext cx="2243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vs 2-core baseline (same family)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82340" y="42245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</a:rPr>
              <a:t>Efficiency: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 31"/>
              <p:cNvSpPr/>
              <p:nvPr/>
            </p:nvSpPr>
            <p:spPr>
              <a:xfrm>
                <a:off x="4194810" y="4224528"/>
                <a:ext cx="1785366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94A3B8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100" b="0" i="1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𝑆𝑝𝑒𝑒𝑑𝑢𝑝</m:t>
                        </m:r>
                      </m:e>
                      <m:sub>
                        <m:r>
                          <a:rPr lang="en-IN" sz="1100" b="0" i="1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 2→</m:t>
                        </m:r>
                        <m:r>
                          <a:rPr lang="en-IN" sz="1100" b="0" i="1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94A3B8"/>
                    </a:solidFill>
                  </a:rPr>
                  <a:t> ÷ (N /2)</a:t>
                </a:r>
                <a:endParaRPr lang="en-US" sz="1100" dirty="0"/>
              </a:p>
            </p:txBody>
          </p:sp>
        </mc:Choice>
        <mc:Fallback>
          <p:sp>
            <p:nvSpPr>
              <p:cNvPr id="33" name="Text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810" y="4224528"/>
                <a:ext cx="1785366" cy="347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-914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A855F7">
                    <a:alpha val="25000"/>
                  </a:srgbClr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Timing Closure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55F7"/>
                </a:solidFill>
              </a:rPr>
              <a:t>Post-implementation Fmax — achieved clock rates used for all measurements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453970"/>
              </p:ext>
            </p:extLst>
          </p:nvPr>
        </p:nvGraphicFramePr>
        <p:xfrm>
          <a:off x="914400" y="1024128"/>
          <a:ext cx="7315200" cy="274320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Cores (N)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Treq (ns)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WNS (ns)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Fmax (MHz)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4-Stage (Pipeline)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−2.231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84FC"/>
                          </a:solidFill>
                        </a:rPr>
                        <a:t>81.76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4-Stage (Pipeline)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−2.167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84FC"/>
                          </a:solidFill>
                        </a:rPr>
                        <a:t>82.19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4-Stage (Pipeline)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−2.381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84FC"/>
                          </a:solidFill>
                        </a:rPr>
                        <a:t>80.77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6-Stage (Multicycle)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−2.438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80.40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6-Stage (Multicycle)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−3.037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76.71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6-Stage (Multicycle)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−3.757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72.69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931920"/>
            <a:ext cx="4114800" cy="960120"/>
          </a:xfrm>
          <a:prstGeom prst="rect">
            <a:avLst/>
          </a:prstGeom>
          <a:solidFill>
            <a:srgbClr val="2A1D50">
              <a:alpha val="65000"/>
            </a:srgbClr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11480" y="399592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</a:rPr>
              <a:t>4-Stage Fmax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" y="4315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Stable 80.77 – 82.19 MHz across 2/4/8 cores — minimal WNS variation</a:t>
            </a:r>
            <a:endParaRPr lang="en-US" sz="1000" dirty="0"/>
          </a:p>
        </p:txBody>
      </p:sp>
      <p:sp>
        <p:nvSpPr>
          <p:cNvPr id="5" name="Shape 6"/>
          <p:cNvSpPr/>
          <p:nvPr/>
        </p:nvSpPr>
        <p:spPr>
          <a:xfrm>
            <a:off x="4754880" y="3931920"/>
            <a:ext cx="4114800" cy="960120"/>
          </a:xfrm>
          <a:prstGeom prst="rect">
            <a:avLst/>
          </a:prstGeom>
          <a:solidFill>
            <a:srgbClr val="231D33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892040" y="399592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</a:rPr>
              <a:t>6-Stage Fmax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92040" y="4315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Degrades: 80.40 → 72.69 MHz as N increases — WNS worsens (interconnect timing)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Total MIPS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7660" y="5120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55F7"/>
                </a:solidFill>
              </a:rPr>
              <a:t>System throughput at achieved clock rates — higher is better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250002230"/>
              </p:ext>
            </p:extLst>
          </p:nvPr>
        </p:nvGraphicFramePr>
        <p:xfrm>
          <a:off x="274320" y="841248"/>
          <a:ext cx="66751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09728"/>
            <a:ext cx="502920" cy="502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040880" y="914400"/>
            <a:ext cx="1828800" cy="118872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7040880" y="914400"/>
            <a:ext cx="18288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7040880" y="10241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55F7"/>
                </a:solidFill>
              </a:rPr>
              <a:t>5.98×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040880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Max Speedup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040880" y="1755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8-core 4-stage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040880" y="2286000"/>
            <a:ext cx="1828800" cy="1188720"/>
          </a:xfrm>
          <a:prstGeom prst="rect">
            <a:avLst/>
          </a:prstGeom>
          <a:solidFill>
            <a:srgbClr val="231D33"/>
          </a:solidFill>
          <a:ln w="12700">
            <a:solidFill>
              <a:srgbClr val="C084FC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7040880" y="2286000"/>
            <a:ext cx="1828800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7040880" y="2395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497 MIPS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040880" y="2852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Peak Throughput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040880" y="3127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IFFT, 8-core 4-stage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040880" y="3657600"/>
            <a:ext cx="1828800" cy="1188720"/>
          </a:xfrm>
          <a:prstGeom prst="rect">
            <a:avLst/>
          </a:prstGeom>
          <a:solidFill>
            <a:srgbClr val="231D33"/>
          </a:solidFill>
          <a:ln w="12700">
            <a:solidFill>
              <a:srgbClr val="06B6D4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040880" y="3657600"/>
            <a:ext cx="18288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7040880" y="3767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</a:rPr>
              <a:t>4-Stage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7040880" y="4224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Consistently Wins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040880" y="4498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All kernels, all core counts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Scaling Efficiency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5318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55F7"/>
                </a:solidFill>
              </a:rPr>
              <a:t>Average efficiency relative to 2-core baseline of same family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940457337"/>
              </p:ext>
            </p:extLst>
          </p:nvPr>
        </p:nvGraphicFramePr>
        <p:xfrm>
          <a:off x="274320" y="841248"/>
          <a:ext cx="49377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40680" y="841248"/>
            <a:ext cx="3429000" cy="91440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40680" y="841248"/>
            <a:ext cx="73152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77840" y="90525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Throughput &gt; Frequency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77840" y="1234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4-stage's higher IPC per cycle beats 6-stage's marginal clock advantage on every workload.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40680" y="1865376"/>
            <a:ext cx="3429000" cy="914400"/>
          </a:xfrm>
          <a:prstGeom prst="rect">
            <a:avLst/>
          </a:prstGeom>
          <a:solidFill>
            <a:srgbClr val="231D33"/>
          </a:solidFill>
          <a:ln w="12700">
            <a:solidFill>
              <a:srgbClr val="64748B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440680" y="1865376"/>
            <a:ext cx="73152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577840" y="192938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6-Stage Collapses at 8C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577840" y="22585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AXI interconnect saturation at high core counts severely limits 6-stage parallel efficiency.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40680" y="2889504"/>
            <a:ext cx="3429000" cy="914400"/>
          </a:xfrm>
          <a:prstGeom prst="rect">
            <a:avLst/>
          </a:prstGeom>
          <a:solidFill>
            <a:srgbClr val="231D33"/>
          </a:solidFill>
          <a:ln w="12700">
            <a:solidFill>
              <a:srgbClr val="06B6D4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440680" y="2889504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577840" y="295351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Compute-Bound Scales Best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77840" y="32826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Basicmath, FFT, Matmul show near-linear scaling — zero inter-core comms during compute.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40680" y="3913632"/>
            <a:ext cx="3429000" cy="914400"/>
          </a:xfrm>
          <a:prstGeom prst="rect">
            <a:avLst/>
          </a:prstGeom>
          <a:solidFill>
            <a:srgbClr val="231D33"/>
          </a:solidFill>
          <a:ln w="12700">
            <a:solidFill>
              <a:srgbClr val="FCD34D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440680" y="3913632"/>
            <a:ext cx="73152" cy="9144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577840" y="39776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</a:rPr>
              <a:t>Load Imbalance Issue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577840" y="430682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Qsort/Stringsearch exhibit sub-linear or degraded scaling due to irregular workload distribution.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FPGA Resource Utilization &amp; Power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5471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55F7"/>
                </a:solidFill>
              </a:rPr>
              <a:t>Post-implementation on PYNQ-Z2 (Zynq-7020)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874988314"/>
              </p:ext>
            </p:extLst>
          </p:nvPr>
        </p:nvGraphicFramePr>
        <p:xfrm>
          <a:off x="274320" y="86868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1442929860"/>
              </p:ext>
            </p:extLst>
          </p:nvPr>
        </p:nvGraphicFramePr>
        <p:xfrm>
          <a:off x="5440680" y="868680"/>
          <a:ext cx="34290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22552"/>
              </p:ext>
            </p:extLst>
          </p:nvPr>
        </p:nvGraphicFramePr>
        <p:xfrm>
          <a:off x="274320" y="3858768"/>
          <a:ext cx="8671560" cy="1051560"/>
        </p:xfrm>
        <a:graphic>
          <a:graphicData uri="http://schemas.openxmlformats.org/drawingml/2006/table">
            <a:tbl>
              <a:tblPr/>
              <a:tblGrid>
                <a:gridCol w="2189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4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4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LUT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FF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BRAM Blocks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Total Power (W)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4-Stage 8-core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84FC"/>
                          </a:solidFill>
                        </a:rPr>
                        <a:t>28,591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84FC"/>
                          </a:solidFill>
                        </a:rPr>
                        <a:t>33,341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84FC"/>
                          </a:solidFill>
                        </a:rPr>
                        <a:t>68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84FC"/>
                          </a:solidFill>
                        </a:rPr>
                        <a:t>1.63 W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6-Stage 8-core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43,731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43,357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136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1.69 W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-914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A855F7">
                    <a:alpha val="25000"/>
                  </a:srgbClr>
                </a:solidFill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01168" y="1280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CNN Inference Application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B6D4"/>
                </a:solidFill>
              </a:rPr>
              <a:t>FruitCNNSmall — embedded AI on a RISC-V multicore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137160"/>
            <a:ext cx="6217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987552"/>
            <a:ext cx="2834640" cy="1188720"/>
          </a:xfrm>
          <a:prstGeom prst="rect">
            <a:avLst/>
          </a:prstGeom>
          <a:solidFill>
            <a:srgbClr val="231D33"/>
          </a:solidFill>
          <a:ln w="12700">
            <a:solidFill>
              <a:srgbClr val="06B6D4">
                <a:alpha val="5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74320" y="987552"/>
            <a:ext cx="28346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65760" y="1078992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Why CNN?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399032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Convolution ≡ Matmul (sliding window)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Real-world AI workload validation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Int8 quantization — no FPU needed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987552"/>
            <a:ext cx="2834640" cy="118872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5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246120" y="987552"/>
            <a:ext cx="28346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337560" y="1078992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Dataset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37560" y="1399032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Fruits-360  ·  5 classes  ·  32×32 RGB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Apple Red 1, Banana, Mango,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Orange, Pomegranate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0" y="987552"/>
            <a:ext cx="2834640" cy="1188720"/>
          </a:xfrm>
          <a:prstGeom prst="rect">
            <a:avLst/>
          </a:prstGeom>
          <a:solidFill>
            <a:srgbClr val="231D33"/>
          </a:solidFill>
          <a:ln w="12700">
            <a:solidFill>
              <a:srgbClr val="C084FC">
                <a:alpha val="5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217920" y="987552"/>
            <a:ext cx="2834640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09360" y="1078992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</a:rPr>
              <a:t>Model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09360" y="1399032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FruitCNNSmall  ·  34,357 parameters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float32 accuracy &gt; 98%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Fits in 64 KiB BRAM/core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37160" y="229514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</a:rPr>
              <a:t>FruitCNNSmall Layer Architecture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90832" y="2697480"/>
            <a:ext cx="853944" cy="914400"/>
          </a:xfrm>
          <a:prstGeom prst="rect">
            <a:avLst/>
          </a:prstGeom>
          <a:solidFill>
            <a:srgbClr val="1C1728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01168" y="2788920"/>
            <a:ext cx="1033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3×32×32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144776" y="3154680"/>
            <a:ext cx="22504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1369824" y="2697480"/>
            <a:ext cx="853944" cy="914400"/>
          </a:xfrm>
          <a:prstGeom prst="rect">
            <a:avLst/>
          </a:prstGeom>
          <a:solidFill>
            <a:srgbClr val="1C1728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1280160" y="2788920"/>
            <a:ext cx="1033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Conv1+ReLU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8×32×32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223768" y="3154680"/>
            <a:ext cx="26386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2487632" y="2697480"/>
            <a:ext cx="776313" cy="914400"/>
          </a:xfrm>
          <a:prstGeom prst="rect">
            <a:avLst/>
          </a:prstGeom>
          <a:solidFill>
            <a:srgbClr val="1C1728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2448816" y="2788920"/>
            <a:ext cx="8539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MaxPool1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8×16×16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523998" y="2697480"/>
            <a:ext cx="853944" cy="914400"/>
          </a:xfrm>
          <a:prstGeom prst="rect">
            <a:avLst/>
          </a:prstGeom>
          <a:solidFill>
            <a:srgbClr val="1C1728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438144" y="2788920"/>
            <a:ext cx="1033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Conv2+ReLU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16×16×16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645616" y="2697480"/>
            <a:ext cx="776313" cy="914400"/>
          </a:xfrm>
          <a:prstGeom prst="rect">
            <a:avLst/>
          </a:prstGeom>
          <a:solidFill>
            <a:srgbClr val="1C1728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517136" y="2788920"/>
            <a:ext cx="1033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MaxPool2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16×8×8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685792" y="2697480"/>
            <a:ext cx="853944" cy="914400"/>
          </a:xfrm>
          <a:prstGeom prst="rect">
            <a:avLst/>
          </a:prstGeom>
          <a:solidFill>
            <a:srgbClr val="1C1728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5596128" y="2788920"/>
            <a:ext cx="1033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Flatten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1024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629400" y="3154680"/>
            <a:ext cx="457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6803600" y="2697480"/>
            <a:ext cx="776313" cy="914400"/>
          </a:xfrm>
          <a:prstGeom prst="rect">
            <a:avLst/>
          </a:prstGeom>
          <a:solidFill>
            <a:srgbClr val="1C1728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6675120" y="2788920"/>
            <a:ext cx="1033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FC1+ReLU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32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843776" y="2697480"/>
            <a:ext cx="853944" cy="914400"/>
          </a:xfrm>
          <a:prstGeom prst="rect">
            <a:avLst/>
          </a:prstGeom>
          <a:solidFill>
            <a:srgbClr val="1C1728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7754112" y="2788920"/>
            <a:ext cx="1033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FC2 Out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 classes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274320" y="3794760"/>
            <a:ext cx="4160520" cy="1078992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411480" y="38404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4 × RV32I Worker Cores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411480" y="416966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Conv1: 2 output channels/core  ·  Conv2: 4 output channels/core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Data-parallel MAC — zero inter-core communication during compute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709160" y="3794760"/>
            <a:ext cx="4160520" cy="1078992"/>
          </a:xfrm>
          <a:prstGeom prst="rect">
            <a:avLst/>
          </a:prstGeom>
          <a:solidFill>
            <a:srgbClr val="231D33"/>
          </a:solidFill>
          <a:ln w="12700">
            <a:solidFill>
              <a:srgbClr val="06B6D4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4846320" y="38404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ARM Cortex-A9 (Host)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4846320" y="416966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MaxPool1, MaxPool2, FC1 (int8), FC2 (float), Argmax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Orchestrates load → start → wait → gather pipeline (outputs)</a:t>
            </a:r>
            <a:endParaRPr lang="en-US" sz="1200" dirty="0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78DD61F8-6530-2694-3CCF-32F4000AB3E2}"/>
              </a:ext>
            </a:extLst>
          </p:cNvPr>
          <p:cNvSpPr/>
          <p:nvPr/>
        </p:nvSpPr>
        <p:spPr>
          <a:xfrm>
            <a:off x="3263945" y="3143250"/>
            <a:ext cx="26386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F1E2DEB9-3355-58F8-806C-3C3F20574621}"/>
              </a:ext>
            </a:extLst>
          </p:cNvPr>
          <p:cNvSpPr/>
          <p:nvPr/>
        </p:nvSpPr>
        <p:spPr>
          <a:xfrm>
            <a:off x="4385204" y="3143250"/>
            <a:ext cx="26386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D8E6B58D-0581-97C6-96FF-C426C2A3AB57}"/>
              </a:ext>
            </a:extLst>
          </p:cNvPr>
          <p:cNvSpPr/>
          <p:nvPr/>
        </p:nvSpPr>
        <p:spPr>
          <a:xfrm>
            <a:off x="5421929" y="3143250"/>
            <a:ext cx="26386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77566678-8215-C22D-74CD-E6FDCDDB53E4}"/>
              </a:ext>
            </a:extLst>
          </p:cNvPr>
          <p:cNvSpPr/>
          <p:nvPr/>
        </p:nvSpPr>
        <p:spPr>
          <a:xfrm>
            <a:off x="6543188" y="3154680"/>
            <a:ext cx="26386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123B605F-7415-BEE7-91B5-DF572D3D028E}"/>
              </a:ext>
            </a:extLst>
          </p:cNvPr>
          <p:cNvSpPr/>
          <p:nvPr/>
        </p:nvSpPr>
        <p:spPr>
          <a:xfrm>
            <a:off x="7579913" y="3143250"/>
            <a:ext cx="26386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678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Int8 Quantization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31678" y="5897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B6D4"/>
                </a:solidFill>
              </a:rPr>
              <a:t>Enabling CNN inference on integer-only RV32I cores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31678" y="960120"/>
            <a:ext cx="1512916" cy="2468880"/>
          </a:xfrm>
          <a:prstGeom prst="rect">
            <a:avLst/>
          </a:prstGeom>
          <a:solidFill>
            <a:srgbClr val="231D33"/>
          </a:solidFill>
          <a:ln w="12700">
            <a:solidFill>
              <a:srgbClr val="06B6D4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31678" y="960120"/>
            <a:ext cx="1512916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56032" y="96012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PyTorch Training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435608"/>
            <a:ext cx="148132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FruitCNNSmall in float32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Adam + cross-entropy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&gt;98% test 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99339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55F7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87326" y="960120"/>
            <a:ext cx="1512916" cy="246888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087326" y="960120"/>
            <a:ext cx="1512916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011680" y="96012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Activation Calibration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1435608"/>
            <a:ext cx="148132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500 balanced images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(100/class)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99.9th pctile + 5% headroom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75888" y="199339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55F7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2974" y="960120"/>
            <a:ext cx="1512916" cy="2468880"/>
          </a:xfrm>
          <a:prstGeom prst="rect">
            <a:avLst/>
          </a:prstGeom>
          <a:solidFill>
            <a:srgbClr val="231D33"/>
          </a:solidFill>
          <a:ln w="12700">
            <a:solidFill>
              <a:srgbClr val="C084FC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2974" y="960120"/>
            <a:ext cx="1512916" cy="38404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767328" y="96012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Weight Quantization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58768" y="1435608"/>
            <a:ext cx="148132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Symmetric per-channel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int8  · 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range [−127, 127]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Biases kept as float32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31536" y="199339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55F7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98622" y="960120"/>
            <a:ext cx="1512916" cy="2468880"/>
          </a:xfrm>
          <a:prstGeom prst="rect">
            <a:avLst/>
          </a:prstGeom>
          <a:solidFill>
            <a:srgbClr val="231D33"/>
          </a:solidFill>
          <a:ln w="12700">
            <a:solidFill>
              <a:srgbClr val="FCD34D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598622" y="960120"/>
            <a:ext cx="1512916" cy="38404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522976" y="96012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 Header Export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14416" y="1435608"/>
            <a:ext cx="148132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Weights → .h arrays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Activation scales exported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Compiled to RV32I binary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87184" y="199339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55F7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54270" y="960120"/>
            <a:ext cx="1512916" cy="2468880"/>
          </a:xfrm>
          <a:prstGeom prst="rect">
            <a:avLst/>
          </a:prstGeom>
          <a:solidFill>
            <a:srgbClr val="231D33"/>
          </a:solidFill>
          <a:ln w="12700">
            <a:solidFill>
              <a:srgbClr val="22C55E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354270" y="960120"/>
            <a:ext cx="151291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278624" y="96012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FPGA Deployment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70064" y="1435608"/>
            <a:ext cx="148132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Worker binary → IMEM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ARM orchestrates pipeline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UART output on PYNQ-Z2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593592"/>
            <a:ext cx="8595360" cy="1325880"/>
          </a:xfrm>
          <a:prstGeom prst="rect">
            <a:avLst/>
          </a:prstGeom>
          <a:solidFill>
            <a:srgbClr val="1C1728"/>
          </a:solidFill>
          <a:ln w="12700">
            <a:solidFill>
              <a:srgbClr val="A855F7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11480" y="363931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Key Formulas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1480" y="397764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Weight:  s_oc = max|W[oc]| / 127   →   W_q[oc] = clamp( round(W[oc] / s_oc), −127, 127 )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4315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:  x_q = clamp( round(x × 255) − 128, −128, 127 )   |   Scales: 0.013972  ·  0.070234  ·  0.858830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847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CNN Classification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60295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</a:rPr>
              <a:t>FPGA int8 inference — all 5 fruit classes correctly classified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954538"/>
              </p:ext>
            </p:extLst>
          </p:nvPr>
        </p:nvGraphicFramePr>
        <p:xfrm>
          <a:off x="274320" y="987552"/>
          <a:ext cx="8595360" cy="283464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FC2 HW Logits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Predicted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✓?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Apple Red 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3548, −19850, −11432, -14282, −7254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84FC"/>
                          </a:solidFill>
                        </a:rPr>
                        <a:t>0 (Apple)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Banana 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−19686, 27249, 14689, −58571, −3808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84FC"/>
                          </a:solidFill>
                        </a:rPr>
                        <a:t>1 (Banana)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Mango 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−19531, 1256, 10200, −61619, 55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84FC"/>
                          </a:solidFill>
                        </a:rPr>
                        <a:t>2 (Mango)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Orange 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1177, −43566, −26231, 13483, 2555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84FC"/>
                          </a:solidFill>
                        </a:rPr>
                        <a:t>3 (Orange)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Pomegranate 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−8686, −7359, 57, −18798, 153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84FC"/>
                          </a:solidFill>
                        </a:rPr>
                        <a:t>4 (Pomegranate)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anchor="ctr">
                    <a:lnL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005072"/>
            <a:ext cx="2011680" cy="914400"/>
          </a:xfrm>
          <a:prstGeom prst="rect">
            <a:avLst/>
          </a:prstGeom>
          <a:solidFill>
            <a:srgbClr val="064E3B">
              <a:alpha val="85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74320" y="4041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</a:rPr>
              <a:t>Good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274320" y="44348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663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5 of 5 correct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68880" y="4005072"/>
            <a:ext cx="2011680" cy="914400"/>
          </a:xfrm>
          <a:prstGeom prst="rect">
            <a:avLst/>
          </a:prstGeom>
          <a:solidFill>
            <a:srgbClr val="231D33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468880" y="4041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</a:rPr>
              <a:t>FPGA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468880" y="44348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Hardware Verified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68880" y="4663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UART on PYNQ-Z2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4005072"/>
            <a:ext cx="2011680" cy="91440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663440" y="4041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5F7"/>
                </a:solidFill>
              </a:rPr>
              <a:t>4-Core</a:t>
            </a:r>
            <a:endParaRPr lang="en-US" sz="2800" dirty="0"/>
          </a:p>
        </p:txBody>
      </p:sp>
      <p:sp>
        <p:nvSpPr>
          <p:cNvPr id="4" name="Text 12"/>
          <p:cNvSpPr/>
          <p:nvPr/>
        </p:nvSpPr>
        <p:spPr>
          <a:xfrm>
            <a:off x="4663440" y="44348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RV32I Workers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63440" y="4663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Conv layers parallelized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58000" y="4005072"/>
            <a:ext cx="2011680" cy="914400"/>
          </a:xfrm>
          <a:prstGeom prst="rect">
            <a:avLst/>
          </a:prstGeom>
          <a:solidFill>
            <a:srgbClr val="231D33"/>
          </a:solidFill>
          <a:ln w="12700">
            <a:solidFill>
              <a:srgbClr val="C084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858000" y="4041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84FC"/>
                </a:solidFill>
              </a:rPr>
              <a:t>Int8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858000" y="44348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Only — No FPU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58000" y="4663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Soft-float only for dequant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Discussion &amp; Key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55F7"/>
                </a:solidFill>
              </a:rPr>
              <a:t>What the results tell 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187952" cy="1828800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4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530352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04241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</a:rPr>
              <a:t>Throughput Over Frequency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39136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4-stage pipelined design consistently outperforms the 6-stage multicycle architecture across all kernels and all core counts. Optimizing IPC gives greater ROI than maximizing clock speed.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187952" cy="1828800"/>
          </a:xfrm>
          <a:prstGeom prst="rect">
            <a:avLst/>
          </a:prstGeom>
          <a:solidFill>
            <a:srgbClr val="231D33"/>
          </a:solidFill>
          <a:ln w="12700">
            <a:solidFill>
              <a:srgbClr val="C084FC">
                <a:alpha val="4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530352" cy="43891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987552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104241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</a:rPr>
              <a:t>Scalability Gap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490472"/>
            <a:ext cx="39136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4-stage scales from 2→8 cores with retained efficiency. 6-stage suffers from AXI bus saturation and BRAM contention at higher N, causing severe parallel efficiency collapse.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87952" cy="1828800"/>
          </a:xfrm>
          <a:prstGeom prst="rect">
            <a:avLst/>
          </a:prstGeom>
          <a:solidFill>
            <a:srgbClr val="231D33"/>
          </a:solidFill>
          <a:ln w="12700">
            <a:solidFill>
              <a:srgbClr val="06B6D4">
                <a:alpha val="4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53035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971800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02666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CNN ≡ Matmul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3474720"/>
            <a:ext cx="39136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Convolution layers are structurally identical to Matmul (sliding-window MAC). Matmul achieved 13.59× speedup at 8C —&gt; CNN Conv layers showed similar near-linear scaling across 4 cores.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87952" cy="1828800"/>
          </a:xfrm>
          <a:prstGeom prst="rect">
            <a:avLst/>
          </a:prstGeom>
          <a:solidFill>
            <a:srgbClr val="231D33"/>
          </a:solidFill>
          <a:ln w="12700">
            <a:solidFill>
              <a:srgbClr val="FCD34D">
                <a:alpha val="4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530352" cy="43891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2971800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302666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D34D"/>
                </a:solidFill>
              </a:rPr>
              <a:t>Soft-Float Bottleneck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9136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Without the M extension, integer multiplication requires ~30 cycles. The dequantization step limits CNN efficiency so a fused MAC via DSP48E1 would yield ~10× convolution speedup.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829" y="1238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Towards an AI Accelerator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58687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55F7"/>
                </a:solidFill>
              </a:rPr>
              <a:t>Proposed architectural extensions 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16352" cy="1801368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163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</a:rPr>
              <a:t>Fused MAC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5389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HW Cost: 1 DSP/core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282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Expected: ~10× conv speedup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mac rd,rs1,rs2 — single cycle. Aligns with RISC-V P-extension draft.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816352" cy="1801368"/>
          </a:xfrm>
          <a:prstGeom prst="rect">
            <a:avLst/>
          </a:prstGeom>
          <a:solidFill>
            <a:srgbClr val="231D33"/>
          </a:solidFill>
          <a:ln w="12700">
            <a:solidFill>
              <a:srgbClr val="C084FC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64408" y="960120"/>
            <a:ext cx="2816352" cy="731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55848" y="107899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</a:rPr>
              <a:t>SIMD Int8 dot4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55848" y="145389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HW Cost: 4 DSP/core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17282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Expected: +4× throughput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201168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4-way dot product, 16 DSPs total (7.3% of Zynq-7020).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54496" y="960120"/>
            <a:ext cx="2816352" cy="1801368"/>
          </a:xfrm>
          <a:prstGeom prst="rect">
            <a:avLst/>
          </a:prstGeom>
          <a:solidFill>
            <a:srgbClr val="231D33"/>
          </a:solidFill>
          <a:ln w="12700">
            <a:solidFill>
              <a:srgbClr val="06B6D4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54496" y="960120"/>
            <a:ext cx="281635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45936" y="107899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4×4 Systolic Array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145389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HW Cost: 16 DSP shared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45936" y="172821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Expected: ~63× for Conv2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45936" y="2011680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Dedicated IP block; ARM dispatches via AXI. Google TPU principle at PYNQ scale.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2816352" cy="1801368"/>
          </a:xfrm>
          <a:prstGeom prst="rect">
            <a:avLst/>
          </a:prstGeom>
          <a:solidFill>
            <a:srgbClr val="231D33"/>
          </a:solidFill>
          <a:ln w="12700">
            <a:solidFill>
              <a:srgbClr val="22C55E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28163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302666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HW ReLU / qReLU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" y="34015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HW Cost: 0 DSP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6758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Expected: 5× activation speed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95935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MUX in writeback stage. BRAM LUT for sigmoid/tanh (LSTM/GRU support).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64408" y="2907792"/>
            <a:ext cx="2816352" cy="1801368"/>
          </a:xfrm>
          <a:prstGeom prst="rect">
            <a:avLst/>
          </a:prstGeom>
          <a:solidFill>
            <a:srgbClr val="231D33"/>
          </a:solidFill>
          <a:ln w="12700">
            <a:solidFill>
              <a:srgbClr val="FCD34D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64408" y="2907792"/>
            <a:ext cx="2816352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355848" y="302666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D34D"/>
                </a:solidFill>
              </a:rPr>
              <a:t>AXI-DMA Streaming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355848" y="34015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HW Cost: 0 DSP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55848" y="36758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Expected: ~30× data load speedup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55848" y="395935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AXI burst 1–2 GB/s vs 50–100 MB/s PIO. Overlaps data load with ARM compute.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54496" y="2907792"/>
            <a:ext cx="2816352" cy="1801368"/>
          </a:xfrm>
          <a:prstGeom prst="rect">
            <a:avLst/>
          </a:prstGeom>
          <a:solidFill>
            <a:srgbClr val="231D33"/>
          </a:solidFill>
          <a:ln w="12700">
            <a:solidFill>
              <a:srgbClr val="F97316">
                <a:alpha val="42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254496" y="2907792"/>
            <a:ext cx="2816352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45936" y="302666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Binary Neural Net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45936" y="34015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HW Cost: 0 DSP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45936" y="36758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Expected: 32 MACs per XNOR+popcount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45936" y="395935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RV32I xor+popcount native. Retrain only, zero hardware change.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371600"/>
            <a:ext cx="4572000" cy="4572000"/>
          </a:xfrm>
          <a:prstGeom prst="ellipse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A855F7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2286000"/>
            <a:ext cx="3474720" cy="347472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3315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55F7"/>
                </a:solidFill>
              </a:rPr>
              <a:t>Key findings of this research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1078992"/>
          </a:xfrm>
          <a:prstGeom prst="rect">
            <a:avLst/>
          </a:prstGeom>
          <a:solidFill>
            <a:srgbClr val="231D33"/>
          </a:solidFill>
          <a:ln w="12700">
            <a:solidFill>
              <a:srgbClr val="A855F7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73152" cy="10789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38912" y="1307592"/>
            <a:ext cx="475488" cy="475488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8912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143000"/>
            <a:ext cx="336499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4-stage outperforms 6-stage on ALL kernels and ALL core counts on the PYNQ-Z2 FPGA.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73168" y="1051560"/>
            <a:ext cx="4206240" cy="1078992"/>
          </a:xfrm>
          <a:prstGeom prst="rect">
            <a:avLst/>
          </a:prstGeom>
          <a:solidFill>
            <a:srgbClr val="231D33"/>
          </a:solidFill>
          <a:ln w="12700">
            <a:solidFill>
              <a:srgbClr val="C084FC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73168" y="1051560"/>
            <a:ext cx="73152" cy="107899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937760" y="1307592"/>
            <a:ext cx="475488" cy="475488"/>
          </a:xfrm>
          <a:prstGeom prst="ellipse">
            <a:avLst/>
          </a:prstGeom>
          <a:solidFill>
            <a:srgbClr val="C084FC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22976" y="1143000"/>
            <a:ext cx="336499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8-core 4-stage achieves up to 5.98× speedup at 28,591 LUTs and 1.63 W total power.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4206240" cy="1078992"/>
          </a:xfrm>
          <a:prstGeom prst="rect">
            <a:avLst/>
          </a:prstGeom>
          <a:solidFill>
            <a:srgbClr val="231D33"/>
          </a:solidFill>
          <a:ln w="12700">
            <a:solidFill>
              <a:srgbClr val="06B6D4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73152" cy="10789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38912" y="2542032"/>
            <a:ext cx="475488" cy="475488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38912" y="2542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2377440"/>
            <a:ext cx="336499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6-stage uses 53% more LUTs and 2× more BRAM at 8 cores for inferior performance.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73168" y="2286000"/>
            <a:ext cx="4206240" cy="1078992"/>
          </a:xfrm>
          <a:prstGeom prst="rect">
            <a:avLst/>
          </a:prstGeom>
          <a:solidFill>
            <a:srgbClr val="231D33"/>
          </a:solidFill>
          <a:ln w="12700">
            <a:solidFill>
              <a:srgbClr val="22C55E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73168" y="2286000"/>
            <a:ext cx="73152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937760" y="2542032"/>
            <a:ext cx="475488" cy="475488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37760" y="2542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22976" y="2377440"/>
            <a:ext cx="336499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FruitCNNSmall on 4-core: good accuracy on 5 fruit classes —&gt; validates embedded AI.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3520440"/>
            <a:ext cx="4206240" cy="1078992"/>
          </a:xfrm>
          <a:prstGeom prst="rect">
            <a:avLst/>
          </a:prstGeom>
          <a:solidFill>
            <a:srgbClr val="231D33"/>
          </a:solidFill>
          <a:ln w="12700">
            <a:solidFill>
              <a:srgbClr val="FCD34D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3520440"/>
            <a:ext cx="73152" cy="10789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38912" y="3776472"/>
            <a:ext cx="475488" cy="475488"/>
          </a:xfrm>
          <a:prstGeom prst="ellipse">
            <a:avLst/>
          </a:prstGeom>
          <a:solidFill>
            <a:srgbClr val="FCD34D">
              <a:alpha val="70000"/>
            </a:srgbClr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38912" y="3776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24128" y="3611880"/>
            <a:ext cx="336499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Throughput optimization &gt;&gt; clock frequency optimization for FPGA shared-memory multicores.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73168" y="3520440"/>
            <a:ext cx="4206240" cy="1078992"/>
          </a:xfrm>
          <a:prstGeom prst="rect">
            <a:avLst/>
          </a:prstGeom>
          <a:solidFill>
            <a:srgbClr val="231D33"/>
          </a:solidFill>
          <a:ln w="12700">
            <a:solidFill>
              <a:srgbClr val="F97316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73168" y="3520440"/>
            <a:ext cx="73152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937760" y="3776472"/>
            <a:ext cx="475488" cy="475488"/>
          </a:xfrm>
          <a:prstGeom prst="ellipse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0" y="3776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22976" y="3611880"/>
            <a:ext cx="336499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Clear roadmap: fused MAC → SIMD dot4 → systolic array for dedicated AI acceleration.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LNMIIT Jaipur  ·  ECE  ·  BTP 2025–26  ·  Molik Rajvanshi (23UEC575)  ·  Ujjawal Khatri (23UEC635)  ·  Supervisor: Dr. Abhishek Sharma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1989</Words>
  <Application>Microsoft Office PowerPoint</Application>
  <PresentationFormat>On-screen Show (16:9)</PresentationFormat>
  <Paragraphs>407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BTP: Comparative Performance Analysis of 4-Stage and 6-Stage RISC-V Cores</dc:title>
  <dc:subject>PptxGenJS Presentation</dc:subject>
  <dc:creator>PptxGenJS</dc:creator>
  <cp:lastModifiedBy>Molik Rajvanshi</cp:lastModifiedBy>
  <cp:revision>9</cp:revision>
  <dcterms:created xsi:type="dcterms:W3CDTF">2026-04-21T13:53:39Z</dcterms:created>
  <dcterms:modified xsi:type="dcterms:W3CDTF">2026-04-21T18:17:22Z</dcterms:modified>
</cp:coreProperties>
</file>